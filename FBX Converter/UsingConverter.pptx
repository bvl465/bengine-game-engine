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486" r:id="rId2"/>
    <p:sldId id="485" r:id="rId3"/>
    <p:sldId id="483" r:id="rId4"/>
    <p:sldId id="484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00FF"/>
    <a:srgbClr val="0D19FF"/>
    <a:srgbClr val="DE38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2881" autoAdjust="0"/>
    <p:restoredTop sz="94994" autoAdjust="0"/>
  </p:normalViewPr>
  <p:slideViewPr>
    <p:cSldViewPr>
      <p:cViewPr varScale="1">
        <p:scale>
          <a:sx n="95" d="100"/>
          <a:sy n="95" d="100"/>
        </p:scale>
        <p:origin x="840" y="3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84DBB-6228-42E2-8BE2-B5B89DE36B0A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6F42D-BF06-49B9-B552-461889774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5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8610600" cy="1295400"/>
          </a:xfrm>
        </p:spPr>
        <p:txBody>
          <a:bodyPr anchor="t" anchorCtr="0">
            <a:noAutofit/>
          </a:bodyPr>
          <a:lstStyle>
            <a:lvl1pPr algn="l">
              <a:defRPr sz="3200">
                <a:solidFill>
                  <a:srgbClr val="0070C0"/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3790950"/>
            <a:ext cx="5715000" cy="184785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/>
              <a:t>Click to edit Master subtitle style</a:t>
            </a:r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2/3/2025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106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501968"/>
            <a:ext cx="2289048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9793815C-EA6D-40C7-9E91-479112874C2D}" type="datetime1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96430"/>
            <a:ext cx="4797552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2DD2A927-C669-46EB-947E-64BB8CE605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10600" cy="5257800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</p:spPr>
        <p:txBody>
          <a:bodyPr/>
          <a:lstStyle/>
          <a:p>
            <a:fld id="{6DF0B6F7-A95D-415F-AB9C-947ED3F9C7B2}" type="datetime1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5257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52608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2/3/2025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343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343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2/3/2025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2/3/2025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2/3/2025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5257800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477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6172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2/3/2025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fld id="{DBA0D2F6-DF7A-40A9-B654-D40E4E483C8E}" type="datetime1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2/3/2025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2/3/2025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52578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2"/>
          </p:nvPr>
        </p:nvSpPr>
        <p:spPr>
          <a:xfrm>
            <a:off x="533400" y="6501968"/>
            <a:ext cx="2289048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9793815C-EA6D-40C7-9E91-479112874C2D}" type="datetime1">
              <a:rPr lang="en-US" smtClean="0"/>
              <a:pPr/>
              <a:t>2/3/2025</a:t>
            </a:fld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8648" y="6496430"/>
            <a:ext cx="4797552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2DD2A927-C669-46EB-947E-64BB8CE6050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randomBar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3200" b="1" kern="1200">
          <a:solidFill>
            <a:srgbClr val="0070C0"/>
          </a:solidFill>
          <a:latin typeface="Arial Black" pitchFamily="34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tx1"/>
        </a:buClr>
        <a:buSzPct val="76000"/>
        <a:buFont typeface="Arial" pitchFamily="34" charset="0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457200" algn="l" rtl="0" eaLnBrk="1" latinLnBrk="0" hangingPunct="1">
        <a:spcBef>
          <a:spcPts val="500"/>
        </a:spcBef>
        <a:buClr>
          <a:schemeClr val="tx1"/>
        </a:buClr>
        <a:buSzPct val="76000"/>
        <a:buFont typeface="Arial" pitchFamily="34" charset="0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tx1"/>
        </a:buClr>
        <a:buSzPct val="76000"/>
        <a:buFont typeface="Arial" pitchFamily="34" charset="0"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tx1"/>
        </a:buClr>
        <a:buSzPct val="70000"/>
        <a:buFont typeface="Arial" pitchFamily="34" charset="0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tx1"/>
        </a:buClr>
        <a:buSzPct val="70000"/>
        <a:buFont typeface="Wingdings"/>
        <a:buChar char="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shy.ai/" TargetMode="External"/><Relationship Id="rId2" Type="http://schemas.openxmlformats.org/officeDocument/2006/relationships/hyperlink" Target="https://free3d.com/3d-models/fbx-ches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A40B7-3C6A-CAE5-0AB8-7850C71512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49F0E-7ECB-8F02-EECA-44A4E94E0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FBX to Azul Converter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91A4D-BDE5-2C62-1AC9-B71AE221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244614"/>
      </p:ext>
    </p:extLst>
  </p:cSld>
  <p:clrMapOvr>
    <a:masterClrMapping/>
  </p:clrMapOvr>
  <p:transition spd="slow"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597FD-A5CB-FB94-0D3A-CF088BF8D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FBX models	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59CB25-45C0-9DB8-E476-2492ED77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7557FD-EE15-FF4E-E80A-C05ACC60222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31775" indent="-231775">
              <a:buFont typeface="+mj-lt"/>
              <a:buAutoNum type="arabicPeriod"/>
            </a:pPr>
            <a:r>
              <a:rPr lang="en-US" sz="2000" dirty="0"/>
              <a:t>DIY with Maya, Blender, etc. </a:t>
            </a:r>
          </a:p>
          <a:p>
            <a:pPr marL="457200" lvl="1" indent="0">
              <a:buNone/>
            </a:pPr>
            <a:r>
              <a:rPr lang="en-US" sz="1600" i="1" dirty="0"/>
              <a:t>Requires artistic skills and experience with 3D modelling</a:t>
            </a:r>
            <a:r>
              <a:rPr lang="en-US" sz="1600" dirty="0"/>
              <a:t> software.</a:t>
            </a:r>
          </a:p>
          <a:p>
            <a:pPr marL="231775" indent="-231775">
              <a:buFont typeface="+mj-lt"/>
              <a:buAutoNum type="arabicPeriod"/>
            </a:pPr>
            <a:r>
              <a:rPr lang="en-US" sz="2000" dirty="0"/>
              <a:t>Search online for free (</a:t>
            </a:r>
            <a:r>
              <a:rPr lang="en-US" sz="2000" b="1" dirty="0"/>
              <a:t>ex: </a:t>
            </a:r>
            <a:r>
              <a:rPr lang="en-US" sz="2000" dirty="0">
                <a:hlinkClick r:id="rId2"/>
              </a:rPr>
              <a:t>Free3D</a:t>
            </a:r>
            <a:r>
              <a:rPr lang="en-US" sz="2000" dirty="0"/>
              <a:t>) </a:t>
            </a:r>
          </a:p>
          <a:p>
            <a:pPr marL="457200" lvl="1" indent="0">
              <a:buNone/>
            </a:pPr>
            <a:r>
              <a:rPr lang="en-US" sz="1600" i="1" dirty="0"/>
              <a:t>You get what you pay for and likely requires some post-processing 3D modelling software.</a:t>
            </a:r>
          </a:p>
          <a:p>
            <a:pPr marL="231775" indent="-231775">
              <a:buFont typeface="+mj-lt"/>
              <a:buAutoNum type="arabicPeriod"/>
            </a:pPr>
            <a:r>
              <a:rPr lang="en-US" sz="2000" dirty="0"/>
              <a:t>AI Assisted? (Ex: </a:t>
            </a:r>
            <a:r>
              <a:rPr lang="en-US" sz="2000" dirty="0">
                <a:hlinkClick r:id="rId3"/>
              </a:rPr>
              <a:t>Meshy</a:t>
            </a:r>
            <a:r>
              <a:rPr lang="en-US" sz="2000" dirty="0"/>
              <a:t>)</a:t>
            </a:r>
          </a:p>
          <a:p>
            <a:pPr marL="461963" lvl="1" indent="-176213"/>
            <a:r>
              <a:rPr lang="en-US" sz="1600" dirty="0"/>
              <a:t>Most ‘free’ versions have very limited options and/or requests.</a:t>
            </a:r>
          </a:p>
          <a:p>
            <a:pPr marL="461963" lvl="1" indent="-176213"/>
            <a:r>
              <a:rPr lang="en-US" sz="1600" dirty="0"/>
              <a:t>Fiddly. Variable quality and still requires some post processing for alignment/position</a:t>
            </a:r>
          </a:p>
          <a:p>
            <a:pPr marL="461963" lvl="1" indent="-176213"/>
            <a:r>
              <a:rPr lang="en-US" sz="1600" dirty="0"/>
              <a:t>May require re-saving as FBX from 3D modeling software to be ‘accepted’ by converter</a:t>
            </a:r>
          </a:p>
          <a:p>
            <a:pPr marL="231775" indent="-231775">
              <a:buFont typeface="+mj-lt"/>
              <a:buAutoNum type="arabicPeriod"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6DD2A-AEA5-3FBF-DBC0-543540B29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62400"/>
            <a:ext cx="5486400" cy="28196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B14B0D-E033-B63E-0DE3-36491FE9B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3977" y="4798059"/>
            <a:ext cx="2455845" cy="189749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39CCD1-560F-AB66-D815-71066999A0C2}"/>
              </a:ext>
            </a:extLst>
          </p:cNvPr>
          <p:cNvSpPr txBox="1"/>
          <p:nvPr/>
        </p:nvSpPr>
        <p:spPr>
          <a:xfrm>
            <a:off x="6096000" y="3981556"/>
            <a:ext cx="29718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Fiddly and likely requires some post-processing, but can work.</a:t>
            </a:r>
          </a:p>
        </p:txBody>
      </p:sp>
    </p:spTree>
    <p:extLst>
      <p:ext uri="{BB962C8B-B14F-4D97-AF65-F5344CB8AC3E}">
        <p14:creationId xmlns:p14="http://schemas.microsoft.com/office/powerpoint/2010/main" val="231633007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from FBX to Azul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-184150">
              <a:buNone/>
            </a:pPr>
            <a:r>
              <a:rPr lang="en-US" sz="2000" dirty="0"/>
              <a:t>In “Reference/FBX Converter”, you will find the executable</a:t>
            </a:r>
          </a:p>
          <a:p>
            <a:pPr marL="461963" lvl="1" indent="-188913"/>
            <a:r>
              <a:rPr lang="en-US" sz="1800" b="1" u="sng" dirty="0">
                <a:solidFill>
                  <a:srgbClr val="C00000"/>
                </a:solidFill>
              </a:rPr>
              <a:t>DO NOT COPY IT! </a:t>
            </a:r>
            <a:r>
              <a:rPr lang="en-US" sz="1800" dirty="0"/>
              <a:t>Work in that folder only!</a:t>
            </a:r>
          </a:p>
          <a:p>
            <a:pPr marL="461963" lvl="1" indent="-188913"/>
            <a:r>
              <a:rPr lang="en-US" sz="1800" dirty="0"/>
              <a:t>Copy your </a:t>
            </a:r>
            <a:r>
              <a:rPr lang="en-US" sz="1800" dirty="0" err="1"/>
              <a:t>fbx</a:t>
            </a:r>
            <a:r>
              <a:rPr lang="en-US" sz="1800" dirty="0"/>
              <a:t> files in this folder and open a command window there.</a:t>
            </a:r>
          </a:p>
          <a:p>
            <a:pPr marL="461963" lvl="1" indent="-188913"/>
            <a:r>
              <a:rPr lang="en-US" sz="1800" dirty="0"/>
              <a:t>Type: (piping the output to a log file </a:t>
            </a:r>
            <a:r>
              <a:rPr lang="en-US" sz="1800" i="1" dirty="0"/>
              <a:t>greatly</a:t>
            </a:r>
            <a:r>
              <a:rPr lang="en-US" sz="1800" dirty="0"/>
              <a:t> speeds up the conversion process)</a:t>
            </a:r>
          </a:p>
          <a:p>
            <a:pPr marL="461963" lvl="1" indent="-188913"/>
            <a:endParaRPr lang="en-US" sz="1800" dirty="0"/>
          </a:p>
          <a:p>
            <a:pPr marL="461963" lvl="1" indent="-188913"/>
            <a:endParaRPr lang="en-US" sz="800" dirty="0"/>
          </a:p>
          <a:p>
            <a:pPr marL="461963" lvl="1" indent="-188913"/>
            <a:endParaRPr lang="en-US" sz="800" dirty="0"/>
          </a:p>
          <a:p>
            <a:pPr marL="461963" lvl="1" indent="-188913"/>
            <a:r>
              <a:rPr lang="en-US" sz="1800" dirty="0"/>
              <a:t>You now have a file </a:t>
            </a:r>
            <a:r>
              <a:rPr lang="en-US" sz="1800" dirty="0" err="1"/>
              <a:t>chair.azul</a:t>
            </a:r>
            <a:r>
              <a:rPr lang="en-US" sz="1800" dirty="0"/>
              <a:t> ready to be used.</a:t>
            </a:r>
          </a:p>
          <a:p>
            <a:pPr marL="461963" lvl="1" indent="-188913"/>
            <a:r>
              <a:rPr lang="en-US" sz="1800" dirty="0"/>
              <a:t>Copy this .</a:t>
            </a:r>
            <a:r>
              <a:rPr lang="en-US" sz="1800" dirty="0" err="1"/>
              <a:t>azul</a:t>
            </a:r>
            <a:r>
              <a:rPr lang="en-US" sz="1800" dirty="0"/>
              <a:t> file into you’re the asset folder of your project.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956" y="2667000"/>
            <a:ext cx="7086943" cy="6365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00200" y="5148977"/>
            <a:ext cx="5791200" cy="78319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DO </a:t>
            </a:r>
            <a:r>
              <a:rPr lang="en-US" sz="1600" b="1" i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SAVE YOUR EXPERIEMENTS ON PERFORCE!</a:t>
            </a:r>
          </a:p>
          <a:p>
            <a:pPr lvl="0" algn="ctr">
              <a:buClr>
                <a:prstClr val="black"/>
              </a:buClr>
              <a:buSzPct val="76000"/>
            </a:pPr>
            <a:endParaRPr lang="en-US" sz="8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>
              <a:buClr>
                <a:prstClr val="black"/>
              </a:buClr>
              <a:buSzPct val="76000"/>
            </a:pPr>
            <a:r>
              <a:rPr lang="en-US" sz="1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Just keep the final .</a:t>
            </a:r>
            <a:r>
              <a:rPr lang="en-US" sz="16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azul</a:t>
            </a:r>
            <a:r>
              <a:rPr lang="en-US" sz="1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files you’ve selected for your project</a:t>
            </a:r>
          </a:p>
        </p:txBody>
      </p:sp>
    </p:spTree>
    <p:extLst>
      <p:ext uri="{BB962C8B-B14F-4D97-AF65-F5344CB8AC3E}">
        <p14:creationId xmlns:p14="http://schemas.microsoft.com/office/powerpoint/2010/main" val="380359656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Converter Limitations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This is an in-house converter with some serious limitation. YMMV…</a:t>
            </a:r>
          </a:p>
          <a:p>
            <a:pPr marL="457200" lvl="1" indent="-228600"/>
            <a:r>
              <a:rPr lang="en-US" sz="1800" dirty="0"/>
              <a:t>It should work for simple models </a:t>
            </a:r>
            <a:r>
              <a:rPr lang="en-US" sz="1800" i="1" u="sng" dirty="0"/>
              <a:t>without</a:t>
            </a:r>
            <a:r>
              <a:rPr lang="en-US" sz="1800" dirty="0"/>
              <a:t> skin, animation, bones, etc.</a:t>
            </a:r>
          </a:p>
          <a:p>
            <a:pPr marL="457200" lvl="1" indent="-228600"/>
            <a:r>
              <a:rPr lang="en-US" sz="1800" dirty="0"/>
              <a:t>Many details are up to the artist: </a:t>
            </a:r>
          </a:p>
          <a:p>
            <a:pPr marL="681038" lvl="2" indent="0">
              <a:buNone/>
            </a:pPr>
            <a:r>
              <a:rPr lang="en-US" sz="1600" b="1" dirty="0"/>
              <a:t>Ex:</a:t>
            </a:r>
            <a:r>
              <a:rPr lang="en-US" sz="1600" dirty="0"/>
              <a:t> </a:t>
            </a:r>
            <a:r>
              <a:rPr lang="en-US" sz="1600" dirty="0" err="1"/>
              <a:t>chest.azul</a:t>
            </a:r>
            <a:r>
              <a:rPr lang="en-US" sz="1600" dirty="0"/>
              <a:t> points upwards, </a:t>
            </a:r>
            <a:r>
              <a:rPr lang="en-US" sz="1600" dirty="0" err="1"/>
              <a:t>chair.azul</a:t>
            </a:r>
            <a:r>
              <a:rPr lang="en-US" sz="1600" dirty="0"/>
              <a:t> is… not right…</a:t>
            </a:r>
          </a:p>
          <a:p>
            <a:pPr marL="685800" lvl="2" indent="0">
              <a:buNone/>
            </a:pPr>
            <a:r>
              <a:rPr lang="en-US" sz="1600" i="1" dirty="0"/>
              <a:t>In a real game setting, these models would need to be realigned and rescaled properly to match our engine’s standards for ‘forward’ and scale</a:t>
            </a:r>
            <a:r>
              <a:rPr lang="en-US" i="1" dirty="0"/>
              <a:t>.</a:t>
            </a:r>
          </a:p>
          <a:p>
            <a:pPr marL="457200" lvl="1" indent="-228600"/>
            <a:r>
              <a:rPr lang="en-US" sz="1800" dirty="0"/>
              <a:t>Texture </a:t>
            </a:r>
            <a:r>
              <a:rPr lang="en-US" sz="1800" dirty="0" err="1"/>
              <a:t>uv</a:t>
            </a:r>
            <a:r>
              <a:rPr lang="en-US" sz="1800" dirty="0"/>
              <a:t> vary for different environments. DX has </a:t>
            </a:r>
            <a:r>
              <a:rPr lang="en-US" sz="1800" dirty="0" err="1"/>
              <a:t>uv’s</a:t>
            </a:r>
            <a:r>
              <a:rPr lang="en-US" sz="1800" dirty="0"/>
              <a:t> 0,0 in the upper left but other environments have it in lower left. </a:t>
            </a:r>
          </a:p>
          <a:p>
            <a:pPr marL="685800" lvl="2" indent="0">
              <a:buNone/>
            </a:pPr>
            <a:r>
              <a:rPr lang="en-US" sz="1600" i="1" dirty="0"/>
              <a:t>You may need to flip the textures vertically to have the </a:t>
            </a:r>
            <a:r>
              <a:rPr lang="en-US" sz="1600" i="1" dirty="0" err="1"/>
              <a:t>uv</a:t>
            </a:r>
            <a:r>
              <a:rPr lang="en-US" sz="1600" i="1" dirty="0"/>
              <a:t> line-up</a:t>
            </a:r>
          </a:p>
          <a:p>
            <a:pPr marL="685800" lvl="2" indent="0">
              <a:buNone/>
            </a:pPr>
            <a:endParaRPr lang="en-US" sz="1600" i="1" dirty="0"/>
          </a:p>
          <a:p>
            <a:pPr marL="457200" lvl="1" indent="-228600"/>
            <a:r>
              <a:rPr lang="en-US" sz="1800" b="1" u="sng" dirty="0"/>
              <a:t>BEWARE OF TEXTURE SIZE!</a:t>
            </a:r>
            <a:r>
              <a:rPr lang="en-US" sz="1800" b="1" dirty="0"/>
              <a:t> </a:t>
            </a:r>
            <a:r>
              <a:rPr lang="en-US" sz="1800" dirty="0"/>
              <a:t>Many original textures are 2048x2048 (16MB) or worse! Most of the time, you’ll get the same visual quality at much lower resolution…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09800" y="5176599"/>
            <a:ext cx="4724400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Beggars can’t be choosers. The converter is all we have right now to get models in </a:t>
            </a:r>
            <a:r>
              <a:rPr lang="en-US" sz="16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azul</a:t>
            </a:r>
            <a:r>
              <a:rPr lang="en-US" sz="1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format</a:t>
            </a:r>
            <a:r>
              <a:rPr lang="en-US" sz="16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0" algn="ctr">
              <a:buClr>
                <a:prstClr val="black"/>
              </a:buClr>
              <a:buSzPct val="76000"/>
            </a:pPr>
            <a:r>
              <a:rPr lang="en-US" sz="16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Work </a:t>
            </a:r>
            <a:r>
              <a:rPr lang="en-US" sz="1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within its limitations </a:t>
            </a:r>
          </a:p>
        </p:txBody>
      </p:sp>
    </p:spTree>
    <p:extLst>
      <p:ext uri="{BB962C8B-B14F-4D97-AF65-F5344CB8AC3E}">
        <p14:creationId xmlns:p14="http://schemas.microsoft.com/office/powerpoint/2010/main" val="385296503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1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70C0"/>
      </a:hlink>
      <a:folHlink>
        <a:srgbClr val="638BAD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39527</TotalTime>
  <Words>397</Words>
  <Application>Microsoft Office PowerPoint</Application>
  <PresentationFormat>On-screen Show (4:3)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Arial Black</vt:lpstr>
      <vt:lpstr>Calibri</vt:lpstr>
      <vt:lpstr>Gill Sans MT</vt:lpstr>
      <vt:lpstr>Times New Roman</vt:lpstr>
      <vt:lpstr>Wingdings</vt:lpstr>
      <vt:lpstr>Wingdings 3</vt:lpstr>
      <vt:lpstr>Origin</vt:lpstr>
      <vt:lpstr>PowerPoint Presentation</vt:lpstr>
      <vt:lpstr>Getting FBX models </vt:lpstr>
      <vt:lpstr>Converting from FBX to Azul</vt:lpstr>
      <vt:lpstr>Converter 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</dc:creator>
  <cp:lastModifiedBy>Andre Berthiaume</cp:lastModifiedBy>
  <cp:revision>1906</cp:revision>
  <dcterms:created xsi:type="dcterms:W3CDTF">2013-03-17T23:02:21Z</dcterms:created>
  <dcterms:modified xsi:type="dcterms:W3CDTF">2025-02-03T21:49:44Z</dcterms:modified>
</cp:coreProperties>
</file>